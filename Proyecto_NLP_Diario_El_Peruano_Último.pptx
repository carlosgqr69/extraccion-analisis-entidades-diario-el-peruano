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7" r:id="rId9"/>
    <p:sldId id="266" r:id="rId10"/>
    <p:sldId id="268" r:id="rId11"/>
    <p:sldId id="261" r:id="rId12"/>
    <p:sldId id="262" r:id="rId13"/>
    <p:sldId id="270" r:id="rId14"/>
    <p:sldId id="263" r:id="rId15"/>
    <p:sldId id="271" r:id="rId16"/>
    <p:sldId id="269" r:id="rId17"/>
    <p:sldId id="273" r:id="rId18"/>
    <p:sldId id="274" r:id="rId19"/>
    <p:sldId id="275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92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0851" y="10287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60630" y="1333500"/>
            <a:ext cx="38224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NLP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652128" y="2286000"/>
            <a:ext cx="38395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900"/>
              </a:spcBef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del Diario El Peruano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857823" y="2971800"/>
            <a:ext cx="34282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500"/>
              </a:spcBef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Entidades y Análisis Temporal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29805" y="3695700"/>
            <a:ext cx="3684091" cy="419100"/>
          </a:xfrm>
          <a:prstGeom prst="roundRect">
            <a:avLst>
              <a:gd name="adj" fmla="val 1818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26137" y="3810000"/>
            <a:ext cx="32914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de Lenguaje Natural • 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Objetivos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35026"/>
            <a:ext cx="4038600" cy="1258193"/>
          </a:xfrm>
          <a:prstGeom prst="roundRect">
            <a:avLst>
              <a:gd name="adj" fmla="val 6056"/>
            </a:avLst>
          </a:prstGeom>
          <a:solidFill>
            <a:srgbClr val="2C5F8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825526"/>
            <a:ext cx="37307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145506"/>
            <a:ext cx="3730752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Diario Oficial El Peruano publica miles de avisos legales diariamente: decretos, resoluciones, juntas de accionistas, disoluciones y remates.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3045619"/>
            <a:ext cx="4038600" cy="1072455"/>
          </a:xfrm>
          <a:prstGeom prst="roundRect">
            <a:avLst>
              <a:gd name="adj" fmla="val 710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3236119"/>
            <a:ext cx="37307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Problemática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3556099"/>
            <a:ext cx="37307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está dispersa en PDFs extensos, dificultando la búsqueda y análisis de datos específicos.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1304032"/>
            <a:ext cx="4038600" cy="1072455"/>
          </a:xfrm>
          <a:prstGeom prst="roundRect">
            <a:avLst>
              <a:gd name="adj" fmla="val 7105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4900" y="1494532"/>
            <a:ext cx="37307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Objetivo Principal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14900" y="1814513"/>
            <a:ext cx="37307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 sistema automatizado de extracción y búsqueda de información del Diario El Peruano usando NLP.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24400" y="2528888"/>
            <a:ext cx="4038600" cy="1920180"/>
          </a:xfrm>
          <a:prstGeom prst="roundRect">
            <a:avLst>
              <a:gd name="adj" fmla="val 3968"/>
            </a:avLst>
          </a:prstGeom>
          <a:noFill/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3950" y="2738438"/>
            <a:ext cx="369189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Objetivos Específicos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3950" y="3058418"/>
            <a:ext cx="36195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descarga de boletines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entidades con spaCy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base de datos estructurada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dashboard de búsqueda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5160107C-7056-4CA1-A869-9B289F649371}"/>
              </a:ext>
            </a:extLst>
          </p:cNvPr>
          <p:cNvSpPr/>
          <p:nvPr/>
        </p:nvSpPr>
        <p:spPr>
          <a:xfrm>
            <a:off x="685799" y="316774"/>
            <a:ext cx="7618863" cy="4459942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bg1"/>
                </a:solidFill>
              </a:rPr>
              <a:t>Automatizar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Descarga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es-ES" dirty="0" err="1">
                <a:solidFill>
                  <a:schemeClr val="bg1"/>
                </a:solidFill>
              </a:rPr>
              <a:t>Requests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Para hacer peticiones HTTP a la web oficial.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Descargar directamente los archivos PDF desde sus </a:t>
            </a:r>
            <a:r>
              <a:rPr lang="es-ES" dirty="0" err="1">
                <a:solidFill>
                  <a:schemeClr val="bg1"/>
                </a:solidFill>
              </a:rPr>
              <a:t>URLs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  <a:p>
            <a:r>
              <a:rPr lang="es-ES" dirty="0" err="1">
                <a:solidFill>
                  <a:schemeClr val="bg1"/>
                </a:solidFill>
              </a:rPr>
              <a:t>BeautifulSoup</a:t>
            </a:r>
            <a:endParaRPr lang="es-E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Para </a:t>
            </a:r>
            <a:r>
              <a:rPr lang="es-ES" dirty="0" err="1">
                <a:solidFill>
                  <a:schemeClr val="bg1"/>
                </a:solidFill>
              </a:rPr>
              <a:t>parsear</a:t>
            </a:r>
            <a:r>
              <a:rPr lang="es-ES" dirty="0">
                <a:solidFill>
                  <a:schemeClr val="bg1"/>
                </a:solidFill>
              </a:rPr>
              <a:t> el HTML de la página donde se listan los boletines.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Identificar dinámicamente los enlaces (&lt;a </a:t>
            </a:r>
            <a:r>
              <a:rPr lang="es-ES" dirty="0" err="1">
                <a:solidFill>
                  <a:schemeClr val="bg1"/>
                </a:solidFill>
              </a:rPr>
              <a:t>href</a:t>
            </a:r>
            <a:r>
              <a:rPr lang="es-ES" dirty="0">
                <a:solidFill>
                  <a:schemeClr val="bg1"/>
                </a:solidFill>
              </a:rPr>
              <a:t>="...</a:t>
            </a:r>
            <a:r>
              <a:rPr lang="es-ES" dirty="0" err="1">
                <a:solidFill>
                  <a:schemeClr val="bg1"/>
                </a:solidFill>
              </a:rPr>
              <a:t>pdf</a:t>
            </a:r>
            <a:r>
              <a:rPr lang="es-ES" dirty="0">
                <a:solidFill>
                  <a:schemeClr val="bg1"/>
                </a:solidFill>
              </a:rPr>
              <a:t>"&gt;) correspondientes a cada mes dentro del rango de 8 meses.</a:t>
            </a:r>
          </a:p>
          <a:p>
            <a:r>
              <a:rPr lang="es-ES" dirty="0">
                <a:solidFill>
                  <a:schemeClr val="bg1"/>
                </a:solidFill>
              </a:rPr>
              <a:t>Lógica de fechas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Se recorrieron los meses objetivo.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Se validó que cada enlace correspondiera al boletín correcto antes de descargarlo.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Se guardaron los </a:t>
            </a:r>
            <a:r>
              <a:rPr lang="es-ES" dirty="0" err="1">
                <a:solidFill>
                  <a:schemeClr val="bg1"/>
                </a:solidFill>
              </a:rPr>
              <a:t>PDFs</a:t>
            </a:r>
            <a:r>
              <a:rPr lang="es-ES" dirty="0">
                <a:solidFill>
                  <a:schemeClr val="bg1"/>
                </a:solidFill>
              </a:rPr>
              <a:t> con nombres normalizados (fecha / mes).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55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52686"/>
            <a:ext cx="4114800" cy="1076176"/>
          </a:xfrm>
          <a:prstGeom prst="roundRect">
            <a:avLst>
              <a:gd name="adj" fmla="val 7081"/>
            </a:avLst>
          </a:prstGeom>
          <a:solidFill>
            <a:srgbClr val="2C5F8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405086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" y="1801267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33400" y="202986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automática de boletines PDF usando requests y BeautifulSoup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48200" y="1252686"/>
            <a:ext cx="4114800" cy="1076176"/>
          </a:xfrm>
          <a:prstGeom prst="roundRect">
            <a:avLst>
              <a:gd name="adj" fmla="val 7081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00600" y="1405086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00600" y="1801267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Texto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00600" y="202986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de PDFs a texto plano con pdfplumber</a:t>
            </a:r>
            <a:endParaRPr lang="en-US" sz="825" dirty="0"/>
          </a:p>
        </p:txBody>
      </p:sp>
      <p:pic>
        <p:nvPicPr>
          <p:cNvPr id="11" name="Image 0" descr="/tmp/rasterized-gradient-30d03c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481263"/>
            <a:ext cx="4114800" cy="1076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3400" y="2633663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3400" y="3029843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 (Named Entity Recognition)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533400" y="325844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entidades con spaCy (es_core_news_md)</a:t>
            </a:r>
            <a:endParaRPr lang="en-US" sz="825" dirty="0"/>
          </a:p>
        </p:txBody>
      </p:sp>
      <p:pic>
        <p:nvPicPr>
          <p:cNvPr id="15" name="Image 1" descr="/tmp/rasterized-gradient-9e945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481263"/>
            <a:ext cx="4114800" cy="1076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00600" y="2633663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800600" y="3029843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4800600" y="325844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CSV con pandas para análisis y búsqueda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381000" y="3709839"/>
            <a:ext cx="4114800" cy="1076176"/>
          </a:xfrm>
          <a:prstGeom prst="roundRect">
            <a:avLst>
              <a:gd name="adj" fmla="val 708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400050" y="3709839"/>
            <a:ext cx="0" cy="1076176"/>
          </a:xfrm>
          <a:prstGeom prst="line">
            <a:avLst/>
          </a:prstGeom>
          <a:noFill/>
          <a:ln w="38100">
            <a:solidFill>
              <a:srgbClr val="2C5F8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1500" y="3862239"/>
            <a:ext cx="38473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71500" y="4258419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571500" y="448701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con matplotlib y seaborn para análisis temporal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4648200" y="3709839"/>
            <a:ext cx="4114800" cy="1076176"/>
          </a:xfrm>
          <a:prstGeom prst="roundRect">
            <a:avLst>
              <a:gd name="adj" fmla="val 708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4667250" y="3709839"/>
            <a:ext cx="0" cy="1076176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38700" y="3862239"/>
            <a:ext cx="38473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4838700" y="4258419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4838700" y="448701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web interactiva con Streamlit para búsqueda y filtrado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399614" y="891927"/>
            <a:ext cx="2278886" cy="851297"/>
          </a:xfrm>
          <a:prstGeom prst="roundRect">
            <a:avLst>
              <a:gd name="adj" fmla="val 11189"/>
            </a:avLst>
          </a:prstGeom>
          <a:solidFill>
            <a:srgbClr val="2C5F8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45541" y="1044327"/>
            <a:ext cx="105291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300"/>
              </a:spcAft>
              <a:buNone/>
            </a:pP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045541" y="1455688"/>
            <a:ext cx="10529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2067074"/>
            <a:ext cx="2565350" cy="704701"/>
          </a:xfrm>
          <a:prstGeom prst="roundRect">
            <a:avLst>
              <a:gd name="adj" fmla="val 10813"/>
            </a:avLst>
          </a:prstGeom>
          <a:solidFill>
            <a:srgbClr val="E8F4F8"/>
          </a:solidFill>
          <a:ln w="19050">
            <a:solidFill>
              <a:srgbClr val="2C5F8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1863" y="2200424"/>
            <a:ext cx="23446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1863" y="2478435"/>
            <a:ext cx="2344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89250" y="2067074"/>
            <a:ext cx="2565350" cy="704701"/>
          </a:xfrm>
          <a:prstGeom prst="roundRect">
            <a:avLst>
              <a:gd name="adj" fmla="val 10813"/>
            </a:avLst>
          </a:prstGeom>
          <a:solidFill>
            <a:srgbClr val="FFF0E8"/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99614" y="2200424"/>
            <a:ext cx="23446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99614" y="2478435"/>
            <a:ext cx="2344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07001" y="2067074"/>
            <a:ext cx="2565350" cy="704701"/>
          </a:xfrm>
          <a:prstGeom prst="roundRect">
            <a:avLst>
              <a:gd name="adj" fmla="val 10813"/>
            </a:avLst>
          </a:prstGeom>
          <a:solidFill>
            <a:srgbClr val="E8F4F8"/>
          </a:solidFill>
          <a:ln w="19050">
            <a:solidFill>
              <a:srgbClr val="2C5F8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17364" y="2200424"/>
            <a:ext cx="23446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17364" y="2478435"/>
            <a:ext cx="2344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15048" y="3076575"/>
            <a:ext cx="1713905" cy="889397"/>
          </a:xfrm>
          <a:prstGeom prst="roundRect">
            <a:avLst>
              <a:gd name="adj" fmla="val 10710"/>
            </a:avLst>
          </a:prstGeom>
          <a:solidFill>
            <a:srgbClr val="F5F7FA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89374" y="3228975"/>
            <a:ext cx="116525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989374" y="3640336"/>
            <a:ext cx="11652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CSV</a:t>
            </a:r>
            <a:endParaRPr lang="en-US" sz="975" dirty="0"/>
          </a:p>
        </p:txBody>
      </p:sp>
      <p:pic>
        <p:nvPicPr>
          <p:cNvPr id="18" name="Image 0" descr="/tmp/rasterized-gradient-e5cfca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70772"/>
            <a:ext cx="3924300" cy="66660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8843" y="4385072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8843" y="4663083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21" name="Image 1" descr="/tmp/rasterized-gradient-b1b0e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270772"/>
            <a:ext cx="3924300" cy="66660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25543" y="4385072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725543" y="4663083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</a:t>
            </a:r>
            <a:endParaRPr lang="en-US" sz="9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C3D5A9E9-E45E-4E84-ACFD-4F5F22EEF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328" y="1102849"/>
            <a:ext cx="1607457" cy="458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0229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NER: Extracción de Entidades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54634"/>
            <a:ext cx="4038600" cy="1005483"/>
          </a:xfrm>
          <a:prstGeom prst="roundRect">
            <a:avLst>
              <a:gd name="adj" fmla="val 9473"/>
            </a:avLst>
          </a:prstGeom>
          <a:solidFill>
            <a:srgbClr val="2C5F8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526084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spaCy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2450" y="1823145"/>
            <a:ext cx="376961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es_core_news_md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Modelo preentrenado para reconocimiento de entidades nombradas en español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512516"/>
            <a:ext cx="4038600" cy="1790700"/>
          </a:xfrm>
          <a:prstGeom prst="roundRect">
            <a:avLst>
              <a:gd name="adj" fmla="val 531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683966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Identificadas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52450" y="2950666"/>
            <a:ext cx="36957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Organizaciones e instituciones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Ubicaciones geográficas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MISC:</a:t>
            </a: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Otras entidades relevantes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794445"/>
            <a:ext cx="4038600" cy="2411611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95850" y="965895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Documentos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5850" y="1243905"/>
            <a:ext cx="36957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Decretos Supremos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Resoluciones Ministeriales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Juntas de Accionistas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Disoluciones de Empresas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de Remate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4400" y="3358455"/>
            <a:ext cx="4038600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900" y="3548955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Extraídos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914900" y="3796605"/>
            <a:ext cx="36576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y RUC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Instituciones públicas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y ubicaciones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0A18E96D-D241-4E15-BAA0-E0EB08BB7E44}"/>
              </a:ext>
            </a:extLst>
          </p:cNvPr>
          <p:cNvSpPr/>
          <p:nvPr/>
        </p:nvSpPr>
        <p:spPr>
          <a:xfrm>
            <a:off x="685799" y="341779"/>
            <a:ext cx="7618863" cy="4459942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chemeClr val="bg1"/>
                </a:solidFill>
              </a:rPr>
              <a:t>Limpieza y procesamiento de datos: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Una vez descargados los </a:t>
            </a:r>
            <a:r>
              <a:rPr lang="es-ES" dirty="0" err="1">
                <a:solidFill>
                  <a:schemeClr val="bg1"/>
                </a:solidFill>
              </a:rPr>
              <a:t>PDFs</a:t>
            </a:r>
            <a:r>
              <a:rPr lang="es-ES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Se extrajo el texto usando librerías como </a:t>
            </a:r>
            <a:r>
              <a:rPr lang="es-ES" dirty="0" err="1">
                <a:solidFill>
                  <a:schemeClr val="bg1"/>
                </a:solidFill>
              </a:rPr>
              <a:t>pdfplumber</a:t>
            </a:r>
            <a:r>
              <a:rPr lang="es-ES" dirty="0">
                <a:solidFill>
                  <a:schemeClr val="bg1"/>
                </a:solidFill>
              </a:rPr>
              <a:t> / PyPDF2.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</a:rPr>
              <a:t>El texto crudo se normalizó y limpió: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Eliminación de encabezados y pies </a:t>
            </a:r>
            <a:r>
              <a:rPr lang="es-ES" dirty="0" err="1">
                <a:solidFill>
                  <a:schemeClr val="bg1"/>
                </a:solidFill>
              </a:rPr>
              <a:t>repetidosCorrección</a:t>
            </a:r>
            <a:r>
              <a:rPr lang="es-ES" dirty="0">
                <a:solidFill>
                  <a:schemeClr val="bg1"/>
                </a:solidFill>
              </a:rPr>
              <a:t> de saltos de línea y espacios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Unificación de formatos de fechas y montos</a:t>
            </a:r>
          </a:p>
          <a:p>
            <a:r>
              <a:rPr lang="es-ES" dirty="0">
                <a:solidFill>
                  <a:schemeClr val="bg1"/>
                </a:solidFill>
              </a:rPr>
              <a:t>3.    Se estructuró la información relevante en </a:t>
            </a:r>
            <a:r>
              <a:rPr lang="es-ES" dirty="0" err="1">
                <a:solidFill>
                  <a:schemeClr val="bg1"/>
                </a:solidFill>
              </a:rPr>
              <a:t>DataFrames</a:t>
            </a:r>
            <a:r>
              <a:rPr lang="es-ES" dirty="0">
                <a:solidFill>
                  <a:schemeClr val="bg1"/>
                </a:solidFill>
              </a:rPr>
              <a:t>, facilitando análisis   posterior y detección de entidades (personas, instituciones, actos administrativos)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4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0A18E96D-D241-4E15-BAA0-E0EB08BB7E44}"/>
              </a:ext>
            </a:extLst>
          </p:cNvPr>
          <p:cNvSpPr/>
          <p:nvPr/>
        </p:nvSpPr>
        <p:spPr>
          <a:xfrm>
            <a:off x="685799" y="341779"/>
            <a:ext cx="7618863" cy="4459942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Creación del </a:t>
            </a:r>
            <a:r>
              <a:rPr kumimoji="0" 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 </a:t>
            </a:r>
            <a:r>
              <a:rPr kumimoji="0" 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Streamlit</a:t>
            </a: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 los datos ya limpios y estructurados: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desarrolló un </a:t>
            </a:r>
            <a:r>
              <a:rPr kumimoji="0" lang="es-ES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interactivo en </a:t>
            </a:r>
            <a:r>
              <a:rPr kumimoji="0" lang="es-ES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Streamlit</a:t>
            </a: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 </a:t>
            </a:r>
            <a:r>
              <a:rPr kumimoji="0" lang="es-ES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permite: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Filtrar por fecha, tipo de acto o institución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Visualizar métricas clave y conteos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Explorar registros específicos de forma dinámica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s-ES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Streamlit</a:t>
            </a:r>
            <a:r>
              <a:rPr kumimoji="0" lang="es-ES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 eligió por su rapidez de desarrollo, simplicidad y fácil despliegue, ideal para prototipos funcionales y validación temprana.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40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51B4F65-4485-44F3-9564-E9087EC83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15" y="189520"/>
            <a:ext cx="8110569" cy="476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09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12E938-7E4B-4E03-94C2-4CFA14B9E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90" y="319666"/>
            <a:ext cx="8011236" cy="431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8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Búsqueda</a:t>
            </a:r>
            <a:endParaRPr lang="en-US" sz="2700" dirty="0"/>
          </a:p>
        </p:txBody>
      </p:sp>
      <p:pic>
        <p:nvPicPr>
          <p:cNvPr id="3" name="Image 0" descr="/tmp/rasterized-gradient-ff10eb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5435"/>
            <a:ext cx="4114800" cy="1093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1586805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Inteligente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1000" y="2581126"/>
            <a:ext cx="4114800" cy="1741140"/>
          </a:xfrm>
          <a:prstGeom prst="roundRect">
            <a:avLst>
              <a:gd name="adj" fmla="val 4376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2733526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Principales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400" y="2988766"/>
            <a:ext cx="3810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múltiples (texto, tipo, empresa, RUC)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Ordenamiento cronológico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Paginación de resultados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CSV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48200" y="838349"/>
            <a:ext cx="4114800" cy="2411611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19650" y="1009799"/>
            <a:ext cx="38473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19650" y="1287810"/>
            <a:ext cx="37719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- Decretos Supremos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- Resoluciones Supremas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 Resoluciones Ministeriales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 - Juntas de Accionistas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 - Disoluciones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 - Remates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648200" y="3402360"/>
            <a:ext cx="4114800" cy="1417290"/>
          </a:xfrm>
          <a:prstGeom prst="roundRect">
            <a:avLst>
              <a:gd name="adj" fmla="val 672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0600" y="355476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00600" y="3790950"/>
            <a:ext cx="38100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- Framework web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- Análisis de datos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- Diseño responsive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y Logros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8955" y="1257300"/>
            <a:ext cx="239654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45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28955" y="1741140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Automatizado</a:t>
            </a:r>
            <a:endParaRPr lang="en-US" sz="975" dirty="0"/>
          </a:p>
        </p:txBody>
      </p:sp>
      <p:sp>
        <p:nvSpPr>
          <p:cNvPr id="7" name="Text 3"/>
          <p:cNvSpPr/>
          <p:nvPr/>
        </p:nvSpPr>
        <p:spPr>
          <a:xfrm>
            <a:off x="3373804" y="1257300"/>
            <a:ext cx="239654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45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3373804" y="1741140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Estructurada</a:t>
            </a:r>
            <a:endParaRPr lang="en-US" sz="975" dirty="0"/>
          </a:p>
        </p:txBody>
      </p:sp>
      <p:sp>
        <p:nvSpPr>
          <p:cNvPr id="10" name="Text 5"/>
          <p:cNvSpPr/>
          <p:nvPr/>
        </p:nvSpPr>
        <p:spPr>
          <a:xfrm>
            <a:off x="6218654" y="1257300"/>
            <a:ext cx="239654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45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6218654" y="1741140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Web</a:t>
            </a:r>
            <a:endParaRPr lang="en-US" sz="975" dirty="0"/>
          </a:p>
        </p:txBody>
      </p:sp>
      <p:sp>
        <p:nvSpPr>
          <p:cNvPr id="12" name="Text 7"/>
          <p:cNvSpPr/>
          <p:nvPr/>
        </p:nvSpPr>
        <p:spPr>
          <a:xfrm>
            <a:off x="381000" y="2576364"/>
            <a:ext cx="4095750" cy="1752600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33400" y="2728764"/>
            <a:ext cx="38667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Completo</a:t>
            </a:r>
            <a:endParaRPr lang="en-US" sz="1125" dirty="0"/>
          </a:p>
        </p:txBody>
      </p:sp>
      <p:sp>
        <p:nvSpPr>
          <p:cNvPr id="14" name="Text 9"/>
          <p:cNvSpPr/>
          <p:nvPr/>
        </p:nvSpPr>
        <p:spPr>
          <a:xfrm>
            <a:off x="533400" y="2995464"/>
            <a:ext cx="379095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automático de boletines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texto de PDFs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entidades (NER)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estructurado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629150" y="2557314"/>
            <a:ext cx="4133850" cy="17907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800600" y="2728764"/>
            <a:ext cx="38667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125" dirty="0"/>
          </a:p>
        </p:txBody>
      </p:sp>
      <p:sp>
        <p:nvSpPr>
          <p:cNvPr id="17" name="Text 12"/>
          <p:cNvSpPr/>
          <p:nvPr/>
        </p:nvSpPr>
        <p:spPr>
          <a:xfrm>
            <a:off x="4800600" y="2995464"/>
            <a:ext cx="379095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por texto completo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por categoría y empresa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Ordenamiento cronológico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de resultados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0A18E96D-D241-4E15-BAA0-E0EB08BB7E44}"/>
              </a:ext>
            </a:extLst>
          </p:cNvPr>
          <p:cNvSpPr/>
          <p:nvPr/>
        </p:nvSpPr>
        <p:spPr>
          <a:xfrm>
            <a:off x="685799" y="341779"/>
            <a:ext cx="7618863" cy="4459942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Creación del </a:t>
            </a:r>
            <a:r>
              <a:rPr kumimoji="0" 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 </a:t>
            </a:r>
            <a:r>
              <a:rPr kumimoji="0" lang="es-E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Streamlit</a:t>
            </a: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 los datos ya limpios y estructurados: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desarrolló un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interactivo en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permite: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Filtrar por fecha, tipo de acto o institución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Visualizar métricas clave y conteos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Explorar registros específicos de forma dinámica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 eligió por su rapidez de desarrollo, simplicidad y fácil despliegue, ideal para prototipos funcionales y validación temprana.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0554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4115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Próximos Pasos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94179"/>
            <a:ext cx="4114800" cy="2136596"/>
          </a:xfrm>
          <a:prstGeom prst="roundRect">
            <a:avLst>
              <a:gd name="adj" fmla="val 5230"/>
            </a:avLst>
          </a:prstGeom>
          <a:solidFill>
            <a:srgbClr val="2C5F8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681163"/>
            <a:ext cx="38473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Principales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2450" y="1978223"/>
            <a:ext cx="37719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completa del pipeline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efectiva con NER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web intuitiva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escalable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3483173"/>
            <a:ext cx="4114800" cy="664815"/>
          </a:xfrm>
          <a:prstGeom prst="roundRect">
            <a:avLst>
              <a:gd name="adj" fmla="val 1432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363557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del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5300" y="3852714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el acceso y análisis de información legal publicada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48200" y="1214517"/>
            <a:ext cx="4114800" cy="2953809"/>
          </a:xfrm>
          <a:prstGeom prst="roundRect">
            <a:avLst>
              <a:gd name="adj" fmla="val 523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9650" y="1444237"/>
            <a:ext cx="38473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43069" y="1699222"/>
            <a:ext cx="3771900" cy="163155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RAG + FINE TUNING 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Embedding de la </a:t>
            </a:r>
            <a:r>
              <a:rPr lang="en-US" sz="135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Pregunta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s-PE" sz="13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Busqueda</a:t>
            </a:r>
            <a:r>
              <a:rPr lang="es-PE" sz="13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 </a:t>
            </a:r>
            <a:r>
              <a:rPr lang="es-PE" sz="13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ChromaDB</a:t>
            </a:r>
            <a:r>
              <a:rPr lang="es-PE" sz="13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(recupera documentos relevantes</a:t>
            </a:r>
            <a:r>
              <a:rPr lang="es-P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3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Construir </a:t>
            </a:r>
            <a:r>
              <a:rPr lang="es-PE" sz="135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prompt</a:t>
            </a:r>
            <a:r>
              <a:rPr lang="es-PE" sz="13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 contexto</a:t>
            </a:r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s-P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 LLM fine-</a:t>
            </a:r>
            <a:r>
              <a:rPr lang="es-PE" sz="14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tuned</a:t>
            </a:r>
            <a:r>
              <a:rPr lang="es-PE" sz="1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 respuesta</a:t>
            </a:r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s-P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Módulo de Transcripción: Conversión de Voz a Texto (</a:t>
            </a:r>
            <a:r>
              <a:rPr lang="es-ES" sz="13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Whisper</a:t>
            </a:r>
            <a:r>
              <a:rPr lang="es-ES" sz="13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3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0A18E96D-D241-4E15-BAA0-E0EB08BB7E44}"/>
              </a:ext>
            </a:extLst>
          </p:cNvPr>
          <p:cNvSpPr/>
          <p:nvPr/>
        </p:nvSpPr>
        <p:spPr>
          <a:xfrm>
            <a:off x="685798" y="341779"/>
            <a:ext cx="7762165" cy="4728364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600" b="1" dirty="0">
                <a:solidFill>
                  <a:schemeClr val="bg1"/>
                </a:solidFill>
              </a:rPr>
              <a:t>RAG (</a:t>
            </a:r>
            <a:r>
              <a:rPr lang="es-PE" sz="1600" b="1" dirty="0" err="1">
                <a:solidFill>
                  <a:schemeClr val="bg1"/>
                </a:solidFill>
              </a:rPr>
              <a:t>Retrieval-Augmented</a:t>
            </a:r>
            <a:r>
              <a:rPr lang="es-PE" sz="1600" b="1" dirty="0">
                <a:solidFill>
                  <a:schemeClr val="bg1"/>
                </a:solidFill>
              </a:rPr>
              <a:t> </a:t>
            </a:r>
            <a:r>
              <a:rPr lang="es-PE" sz="1600" b="1" dirty="0" err="1">
                <a:solidFill>
                  <a:schemeClr val="bg1"/>
                </a:solidFill>
              </a:rPr>
              <a:t>Generation</a:t>
            </a:r>
            <a:r>
              <a:rPr lang="es-PE" sz="1600" b="1" dirty="0">
                <a:solidFill>
                  <a:schemeClr val="bg1"/>
                </a:solidFill>
              </a:rPr>
              <a:t>) con CSV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1. Fuente de conocimiento: CSV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</a:rPr>
              <a:t>El CSV contiene la información </a:t>
            </a:r>
            <a:r>
              <a:rPr lang="es-ES" sz="1600" b="1" dirty="0">
                <a:solidFill>
                  <a:schemeClr val="bg1"/>
                </a:solidFill>
              </a:rPr>
              <a:t>ya limpia y estructurada</a:t>
            </a:r>
            <a:r>
              <a:rPr lang="es-ES" sz="1600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</a:rPr>
              <a:t>fechas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</a:rPr>
              <a:t>instituciones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</a:rPr>
              <a:t>personas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</a:rPr>
              <a:t>actos administrativos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</a:rPr>
              <a:t>montos, ubicaciones,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</a:rPr>
              <a:t>Este archivo actúa como la </a:t>
            </a:r>
            <a:r>
              <a:rPr lang="es-ES" sz="1600" b="1" dirty="0">
                <a:solidFill>
                  <a:schemeClr val="bg1"/>
                </a:solidFill>
              </a:rPr>
              <a:t>base de conocimiento</a:t>
            </a:r>
            <a:r>
              <a:rPr lang="es-ES" sz="1600" dirty="0">
                <a:solidFill>
                  <a:schemeClr val="bg1"/>
                </a:solidFill>
              </a:rPr>
              <a:t> del sistema.</a:t>
            </a:r>
          </a:p>
          <a:p>
            <a:r>
              <a:rPr lang="es-ES" sz="1600" b="1" dirty="0">
                <a:solidFill>
                  <a:schemeClr val="bg1"/>
                </a:solidFill>
              </a:rPr>
              <a:t>2. Recuperación (</a:t>
            </a:r>
            <a:r>
              <a:rPr lang="es-ES" sz="1600" b="1" dirty="0" err="1">
                <a:solidFill>
                  <a:schemeClr val="bg1"/>
                </a:solidFill>
              </a:rPr>
              <a:t>Retrieval</a:t>
            </a:r>
            <a:r>
              <a:rPr lang="es-ES" sz="1600" b="1" dirty="0">
                <a:solidFill>
                  <a:schemeClr val="bg1"/>
                </a:solidFill>
              </a:rPr>
              <a:t>)</a:t>
            </a:r>
          </a:p>
          <a:p>
            <a:r>
              <a:rPr lang="es-ES" sz="1600" dirty="0">
                <a:solidFill>
                  <a:schemeClr val="bg1"/>
                </a:solidFill>
              </a:rPr>
              <a:t>Cuando el usuario hace una pregunta:</a:t>
            </a:r>
          </a:p>
          <a:p>
            <a:pPr>
              <a:buFont typeface="+mj-lt"/>
              <a:buAutoNum type="arabicPeriod"/>
            </a:pPr>
            <a:r>
              <a:rPr lang="es-ES" sz="1600" dirty="0">
                <a:solidFill>
                  <a:schemeClr val="bg1"/>
                </a:solidFill>
              </a:rPr>
              <a:t>Se </a:t>
            </a:r>
            <a:r>
              <a:rPr lang="es-ES" sz="1600" b="1" dirty="0">
                <a:solidFill>
                  <a:schemeClr val="bg1"/>
                </a:solidFill>
              </a:rPr>
              <a:t>lee el CSV</a:t>
            </a:r>
            <a:r>
              <a:rPr lang="es-ES" sz="1600" dirty="0">
                <a:solidFill>
                  <a:schemeClr val="bg1"/>
                </a:solidFill>
              </a:rPr>
              <a:t> (con pandas).</a:t>
            </a:r>
          </a:p>
          <a:p>
            <a:pPr>
              <a:buFont typeface="+mj-lt"/>
              <a:buAutoNum type="arabicPeriod"/>
            </a:pPr>
            <a:r>
              <a:rPr lang="es-ES" sz="1600" dirty="0">
                <a:solidFill>
                  <a:schemeClr val="bg1"/>
                </a:solidFill>
              </a:rPr>
              <a:t>Se </a:t>
            </a:r>
            <a:r>
              <a:rPr lang="es-ES" sz="1600" b="1" dirty="0">
                <a:solidFill>
                  <a:schemeClr val="bg1"/>
                </a:solidFill>
              </a:rPr>
              <a:t>filtran las filas relevantes</a:t>
            </a:r>
            <a:r>
              <a:rPr lang="es-ES" sz="1600" dirty="0">
                <a:solidFill>
                  <a:schemeClr val="bg1"/>
                </a:solidFill>
              </a:rPr>
              <a:t> según la consulta: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600" dirty="0">
                <a:solidFill>
                  <a:schemeClr val="bg1"/>
                </a:solidFill>
              </a:rPr>
              <a:t>por fecha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600" dirty="0">
                <a:solidFill>
                  <a:schemeClr val="bg1"/>
                </a:solidFill>
              </a:rPr>
              <a:t>por institución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600" dirty="0">
                <a:solidFill>
                  <a:schemeClr val="bg1"/>
                </a:solidFill>
              </a:rPr>
              <a:t>por tipo de acto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600" dirty="0">
                <a:solidFill>
                  <a:schemeClr val="bg1"/>
                </a:solidFill>
              </a:rPr>
              <a:t>por palabras clave</a:t>
            </a:r>
          </a:p>
          <a:p>
            <a:pPr>
              <a:buFont typeface="+mj-lt"/>
              <a:buAutoNum type="arabicPeriod"/>
            </a:pPr>
            <a:r>
              <a:rPr lang="es-ES" sz="1600" dirty="0">
                <a:solidFill>
                  <a:schemeClr val="bg1"/>
                </a:solidFill>
              </a:rPr>
              <a:t>Se seleccionan solo los registros más pertinentes.</a:t>
            </a:r>
          </a:p>
          <a:p>
            <a:endParaRPr lang="es-ES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194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33AED890-6388-4AE6-875F-E4CBD59EAB52}"/>
              </a:ext>
            </a:extLst>
          </p:cNvPr>
          <p:cNvSpPr/>
          <p:nvPr/>
        </p:nvSpPr>
        <p:spPr>
          <a:xfrm>
            <a:off x="685798" y="341779"/>
            <a:ext cx="7762165" cy="1411958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chemeClr val="bg1"/>
                </a:solidFill>
              </a:rPr>
              <a:t>3. Generación (</a:t>
            </a:r>
            <a:r>
              <a:rPr lang="es-ES" sz="1600" b="1" dirty="0" err="1">
                <a:solidFill>
                  <a:schemeClr val="bg1"/>
                </a:solidFill>
              </a:rPr>
              <a:t>Generation</a:t>
            </a:r>
            <a:r>
              <a:rPr lang="es-ES" sz="1600" b="1" dirty="0">
                <a:solidFill>
                  <a:schemeClr val="bg1"/>
                </a:solidFill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>
                <a:solidFill>
                  <a:schemeClr val="bg1"/>
                </a:solidFill>
              </a:rPr>
              <a:t>Los registros recuperados se convierten en contexto textual.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>
                <a:solidFill>
                  <a:schemeClr val="bg1"/>
                </a:solidFill>
              </a:rPr>
              <a:t>Ese contexto se pasa al modelo de lenguaje.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600" dirty="0">
                <a:solidFill>
                  <a:schemeClr val="bg1"/>
                </a:solidFill>
              </a:rPr>
              <a:t>El modelo redacta la respuesta, pero limitado estrictamente a esos datos.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600" dirty="0">
                <a:solidFill>
                  <a:schemeClr val="bg1"/>
                </a:solidFill>
              </a:rPr>
              <a:t>	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600" dirty="0">
                <a:solidFill>
                  <a:schemeClr val="bg1"/>
                </a:solidFill>
              </a:rPr>
              <a:t>       Resultado:   Respuestas coherentes, explicativas y basadas en datos reales, no en imaginación del modelo.</a:t>
            </a:r>
            <a:endParaRPr kumimoji="0" lang="es-ES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49B304AD-9D6D-497D-AB3D-77D4D13FF875}"/>
              </a:ext>
            </a:extLst>
          </p:cNvPr>
          <p:cNvSpPr/>
          <p:nvPr/>
        </p:nvSpPr>
        <p:spPr>
          <a:xfrm>
            <a:off x="685798" y="1849271"/>
            <a:ext cx="7762165" cy="3220871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1. ARQUITECTURA IMPLEMENTADA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- </a:t>
            </a:r>
            <a:r>
              <a:rPr lang="es-PE" sz="1200" dirty="0" err="1">
                <a:solidFill>
                  <a:schemeClr val="bg1"/>
                </a:solidFill>
              </a:rPr>
              <a:t>Embeddings</a:t>
            </a:r>
            <a:r>
              <a:rPr lang="es-PE" sz="1200" dirty="0">
                <a:solidFill>
                  <a:schemeClr val="bg1"/>
                </a:solidFill>
              </a:rPr>
              <a:t>: </a:t>
            </a:r>
            <a:r>
              <a:rPr lang="es-PE" sz="1200" dirty="0" err="1">
                <a:solidFill>
                  <a:schemeClr val="bg1"/>
                </a:solidFill>
              </a:rPr>
              <a:t>sentence-transformers</a:t>
            </a:r>
            <a:r>
              <a:rPr lang="es-PE" sz="1200" dirty="0">
                <a:solidFill>
                  <a:schemeClr val="bg1"/>
                </a:solidFill>
              </a:rPr>
              <a:t>/paraphrase-multilingual-MiniLM-L12-v2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Dimensiones: 384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Optimizado para español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118M parámetros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2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- Vector Store: </a:t>
            </a:r>
            <a:r>
              <a:rPr lang="es-PE" sz="1200" dirty="0" err="1">
                <a:solidFill>
                  <a:schemeClr val="bg1"/>
                </a:solidFill>
              </a:rPr>
              <a:t>ChromaDB</a:t>
            </a:r>
            <a:endParaRPr lang="es-PE" sz="12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Algoritmo: HNSW (</a:t>
            </a:r>
            <a:r>
              <a:rPr lang="es-PE" sz="1200" dirty="0" err="1">
                <a:solidFill>
                  <a:schemeClr val="bg1"/>
                </a:solidFill>
              </a:rPr>
              <a:t>Hierarchical</a:t>
            </a:r>
            <a:r>
              <a:rPr lang="es-PE" sz="1200" dirty="0">
                <a:solidFill>
                  <a:schemeClr val="bg1"/>
                </a:solidFill>
              </a:rPr>
              <a:t> </a:t>
            </a:r>
            <a:r>
              <a:rPr lang="es-PE" sz="1200" dirty="0" err="1">
                <a:solidFill>
                  <a:schemeClr val="bg1"/>
                </a:solidFill>
              </a:rPr>
              <a:t>Navigable</a:t>
            </a:r>
            <a:r>
              <a:rPr lang="es-PE" sz="1200" dirty="0">
                <a:solidFill>
                  <a:schemeClr val="bg1"/>
                </a:solidFill>
              </a:rPr>
              <a:t> Small </a:t>
            </a:r>
            <a:r>
              <a:rPr lang="es-PE" sz="1200" dirty="0" err="1">
                <a:solidFill>
                  <a:schemeClr val="bg1"/>
                </a:solidFill>
              </a:rPr>
              <a:t>World</a:t>
            </a:r>
            <a:r>
              <a:rPr lang="es-PE" sz="1200" dirty="0">
                <a:solidFill>
                  <a:schemeClr val="bg1"/>
                </a:solidFill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Métrica: Similitud coseno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Vectores totales: 17,008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Persistencia: Local (</a:t>
            </a:r>
            <a:r>
              <a:rPr lang="es-PE" sz="1200" dirty="0" err="1">
                <a:solidFill>
                  <a:schemeClr val="bg1"/>
                </a:solidFill>
              </a:rPr>
              <a:t>rag_database_final</a:t>
            </a:r>
            <a:r>
              <a:rPr lang="es-PE" sz="1200" dirty="0">
                <a:solidFill>
                  <a:schemeClr val="bg1"/>
                </a:solidFill>
              </a:rPr>
              <a:t>/)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2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- LLM: Llama3-8B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</a:t>
            </a:r>
            <a:r>
              <a:rPr lang="es-PE" sz="1200" dirty="0" err="1">
                <a:solidFill>
                  <a:schemeClr val="bg1"/>
                </a:solidFill>
              </a:rPr>
              <a:t>Deployment</a:t>
            </a:r>
            <a:r>
              <a:rPr lang="es-PE" sz="1200" dirty="0">
                <a:solidFill>
                  <a:schemeClr val="bg1"/>
                </a:solidFill>
              </a:rPr>
              <a:t>: Local </a:t>
            </a:r>
            <a:r>
              <a:rPr lang="es-PE" sz="1200" dirty="0" err="1">
                <a:solidFill>
                  <a:schemeClr val="bg1"/>
                </a:solidFill>
              </a:rPr>
              <a:t>via</a:t>
            </a:r>
            <a:r>
              <a:rPr lang="es-PE" sz="1200" dirty="0">
                <a:solidFill>
                  <a:schemeClr val="bg1"/>
                </a:solidFill>
              </a:rPr>
              <a:t> </a:t>
            </a:r>
            <a:r>
              <a:rPr lang="es-PE" sz="1200" dirty="0" err="1">
                <a:solidFill>
                  <a:schemeClr val="bg1"/>
                </a:solidFill>
              </a:rPr>
              <a:t>Ollama</a:t>
            </a:r>
            <a:endParaRPr lang="es-PE" sz="12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Uso: Generación y extracción de información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>
                <a:solidFill>
                  <a:schemeClr val="bg1"/>
                </a:solidFill>
              </a:rPr>
              <a:t>  * Contexto: 8K tokens</a:t>
            </a:r>
          </a:p>
        </p:txBody>
      </p:sp>
    </p:spTree>
    <p:extLst>
      <p:ext uri="{BB962C8B-B14F-4D97-AF65-F5344CB8AC3E}">
        <p14:creationId xmlns:p14="http://schemas.microsoft.com/office/powerpoint/2010/main" val="3817406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97B8E15F-92A5-435A-BD3E-04C8FA3C029F}"/>
              </a:ext>
            </a:extLst>
          </p:cNvPr>
          <p:cNvSpPr/>
          <p:nvPr/>
        </p:nvSpPr>
        <p:spPr>
          <a:xfrm>
            <a:off x="690917" y="218365"/>
            <a:ext cx="7762165" cy="4851778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2. DATOS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Registros totales procesados: 3,060,033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Registros relevantes (3 tipos): 17,008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 * Disoluciones: 3,689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 * Remates: 9,515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 * Juntas: 3,804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Periodo: Abril - Noviembre 2025 (8 meses)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</a:t>
            </a:r>
            <a:r>
              <a:rPr lang="es-ES" sz="1400" dirty="0" err="1">
                <a:solidFill>
                  <a:schemeClr val="bg1"/>
                </a:solidFill>
              </a:rPr>
              <a:t>Chunks</a:t>
            </a:r>
            <a:r>
              <a:rPr lang="es-ES" sz="1400" dirty="0">
                <a:solidFill>
                  <a:schemeClr val="bg1"/>
                </a:solidFill>
              </a:rPr>
              <a:t> creados: 17,008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Tamaño </a:t>
            </a:r>
            <a:r>
              <a:rPr lang="es-ES" sz="1400" dirty="0" err="1">
                <a:solidFill>
                  <a:schemeClr val="bg1"/>
                </a:solidFill>
              </a:rPr>
              <a:t>chunk</a:t>
            </a:r>
            <a:r>
              <a:rPr lang="es-ES" sz="1400" dirty="0">
                <a:solidFill>
                  <a:schemeClr val="bg1"/>
                </a:solidFill>
              </a:rPr>
              <a:t>: 800 tokens (</a:t>
            </a:r>
            <a:r>
              <a:rPr lang="es-ES" sz="1400" dirty="0" err="1">
                <a:solidFill>
                  <a:schemeClr val="bg1"/>
                </a:solidFill>
              </a:rPr>
              <a:t>overlap</a:t>
            </a:r>
            <a:r>
              <a:rPr lang="es-ES" sz="1400" dirty="0">
                <a:solidFill>
                  <a:schemeClr val="bg1"/>
                </a:solidFill>
              </a:rPr>
              <a:t> 100)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3. ESTRATEGIA DE PROCESAMIENTO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Inicial: Extracción estructurada con </a:t>
            </a:r>
            <a:r>
              <a:rPr lang="es-ES" sz="1400" dirty="0" err="1">
                <a:solidFill>
                  <a:schemeClr val="bg1"/>
                </a:solidFill>
              </a:rPr>
              <a:t>regex</a:t>
            </a: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Éxito: 17.9%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Problema: Textos mal formateados en CSV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Final: Texto completo sin </a:t>
            </a:r>
            <a:r>
              <a:rPr lang="es-ES" sz="1400" dirty="0" err="1">
                <a:solidFill>
                  <a:schemeClr val="bg1"/>
                </a:solidFill>
              </a:rPr>
              <a:t>pre-extracción</a:t>
            </a: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El LLM extrae información del texto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Más robusto con datos reales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</a:t>
            </a:r>
            <a:r>
              <a:rPr lang="es-ES" sz="1400" dirty="0" err="1">
                <a:solidFill>
                  <a:schemeClr val="bg1"/>
                </a:solidFill>
              </a:rPr>
              <a:t>Approach</a:t>
            </a:r>
            <a:r>
              <a:rPr lang="es-ES" sz="1400" dirty="0">
                <a:solidFill>
                  <a:schemeClr val="bg1"/>
                </a:solidFill>
              </a:rPr>
              <a:t> respaldado por </a:t>
            </a:r>
            <a:r>
              <a:rPr lang="es-ES" sz="1400" dirty="0" err="1">
                <a:solidFill>
                  <a:schemeClr val="bg1"/>
                </a:solidFill>
              </a:rPr>
              <a:t>papers</a:t>
            </a:r>
            <a:r>
              <a:rPr lang="es-ES" sz="1400" dirty="0">
                <a:solidFill>
                  <a:schemeClr val="bg1"/>
                </a:solidFill>
              </a:rPr>
              <a:t> (</a:t>
            </a:r>
            <a:r>
              <a:rPr lang="es-ES" sz="1400" dirty="0" err="1">
                <a:solidFill>
                  <a:schemeClr val="bg1"/>
                </a:solidFill>
              </a:rPr>
              <a:t>Rangan</a:t>
            </a:r>
            <a:r>
              <a:rPr lang="es-ES" sz="1400" dirty="0">
                <a:solidFill>
                  <a:schemeClr val="bg1"/>
                </a:solidFill>
              </a:rPr>
              <a:t> &amp; Yin, 2024)</a:t>
            </a:r>
          </a:p>
        </p:txBody>
      </p:sp>
    </p:spTree>
    <p:extLst>
      <p:ext uri="{BB962C8B-B14F-4D97-AF65-F5344CB8AC3E}">
        <p14:creationId xmlns:p14="http://schemas.microsoft.com/office/powerpoint/2010/main" val="2549175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9D81D854-624A-4C7F-A2E3-2D0BACDF6F91}"/>
              </a:ext>
            </a:extLst>
          </p:cNvPr>
          <p:cNvSpPr/>
          <p:nvPr/>
        </p:nvSpPr>
        <p:spPr>
          <a:xfrm>
            <a:off x="690917" y="218365"/>
            <a:ext cx="7762165" cy="4851778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4. RECUPERACIÓN (RETRIEVAL)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Proceso: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1. </a:t>
            </a:r>
            <a:r>
              <a:rPr lang="es-ES" sz="1400" dirty="0" err="1">
                <a:solidFill>
                  <a:schemeClr val="bg1"/>
                </a:solidFill>
              </a:rPr>
              <a:t>Query</a:t>
            </a:r>
            <a:r>
              <a:rPr lang="es-ES" sz="1400" dirty="0">
                <a:solidFill>
                  <a:schemeClr val="bg1"/>
                </a:solidFill>
              </a:rPr>
              <a:t> → </a:t>
            </a:r>
            <a:r>
              <a:rPr lang="es-ES" sz="1400" dirty="0" err="1">
                <a:solidFill>
                  <a:schemeClr val="bg1"/>
                </a:solidFill>
              </a:rPr>
              <a:t>Embedding</a:t>
            </a:r>
            <a:r>
              <a:rPr lang="es-ES" sz="1400" dirty="0">
                <a:solidFill>
                  <a:schemeClr val="bg1"/>
                </a:solidFill>
              </a:rPr>
              <a:t> (384D)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2. Búsqueda similitud en </a:t>
            </a:r>
            <a:r>
              <a:rPr lang="es-ES" sz="1400" dirty="0" err="1">
                <a:solidFill>
                  <a:schemeClr val="bg1"/>
                </a:solidFill>
              </a:rPr>
              <a:t>ChromaDB</a:t>
            </a: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3. Filtros </a:t>
            </a:r>
            <a:r>
              <a:rPr lang="es-ES" sz="1400" dirty="0" err="1">
                <a:solidFill>
                  <a:schemeClr val="bg1"/>
                </a:solidFill>
              </a:rPr>
              <a:t>metadata</a:t>
            </a:r>
            <a:r>
              <a:rPr lang="es-ES" sz="1400" dirty="0">
                <a:solidFill>
                  <a:schemeClr val="bg1"/>
                </a:solidFill>
              </a:rPr>
              <a:t> (tipo, mes, año) - </a:t>
            </a:r>
            <a:r>
              <a:rPr lang="es-ES" sz="1400" dirty="0" err="1">
                <a:solidFill>
                  <a:schemeClr val="bg1"/>
                </a:solidFill>
              </a:rPr>
              <a:t>Exact</a:t>
            </a:r>
            <a:r>
              <a:rPr lang="es-ES" sz="1400" dirty="0">
                <a:solidFill>
                  <a:schemeClr val="bg1"/>
                </a:solidFill>
              </a:rPr>
              <a:t> match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4. </a:t>
            </a:r>
            <a:r>
              <a:rPr lang="es-ES" sz="1400" dirty="0" err="1">
                <a:solidFill>
                  <a:schemeClr val="bg1"/>
                </a:solidFill>
              </a:rPr>
              <a:t>Reranking</a:t>
            </a:r>
            <a:r>
              <a:rPr lang="es-ES" sz="1400" dirty="0">
                <a:solidFill>
                  <a:schemeClr val="bg1"/>
                </a:solidFill>
              </a:rPr>
              <a:t>: 60% similitud + 40% </a:t>
            </a:r>
            <a:r>
              <a:rPr lang="es-ES" sz="1400" dirty="0" err="1">
                <a:solidFill>
                  <a:schemeClr val="bg1"/>
                </a:solidFill>
              </a:rPr>
              <a:t>metadata</a:t>
            </a: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5. Top-K: 8 documentos finales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5. MÉTRICAS DE EVALUACIÓN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 err="1">
                <a:solidFill>
                  <a:schemeClr val="bg1"/>
                </a:solidFill>
              </a:rPr>
              <a:t>Queries</a:t>
            </a:r>
            <a:r>
              <a:rPr lang="es-ES" sz="1400" dirty="0">
                <a:solidFill>
                  <a:schemeClr val="bg1"/>
                </a:solidFill>
              </a:rPr>
              <a:t> evaluadas: 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Tipos evaluados: DISOLUCION, REMATE, JUNTA_ACCIONISTAS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RESULTADOS: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</a:t>
            </a:r>
            <a:r>
              <a:rPr lang="es-ES" sz="1400" dirty="0" err="1">
                <a:solidFill>
                  <a:schemeClr val="bg1"/>
                </a:solidFill>
              </a:rPr>
              <a:t>Precision</a:t>
            </a:r>
            <a:r>
              <a:rPr lang="es-ES" sz="1400" dirty="0">
                <a:solidFill>
                  <a:schemeClr val="bg1"/>
                </a:solidFill>
              </a:rPr>
              <a:t> tipo: 100%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</a:t>
            </a:r>
            <a:r>
              <a:rPr lang="es-ES" sz="1400" dirty="0" err="1">
                <a:solidFill>
                  <a:schemeClr val="bg1"/>
                </a:solidFill>
              </a:rPr>
              <a:t>Precision</a:t>
            </a:r>
            <a:r>
              <a:rPr lang="es-ES" sz="1400" dirty="0">
                <a:solidFill>
                  <a:schemeClr val="bg1"/>
                </a:solidFill>
              </a:rPr>
              <a:t> mes: 100%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Empresas promedio por respuesta: 7.2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- Tiempo promedio: 38.4s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Desglose por tipo: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                                           </a:t>
            </a:r>
            <a:r>
              <a:rPr lang="es-ES" sz="1400" dirty="0" err="1">
                <a:solidFill>
                  <a:schemeClr val="bg1"/>
                </a:solidFill>
              </a:rPr>
              <a:t>precision_tipo</a:t>
            </a:r>
            <a:r>
              <a:rPr lang="es-ES" sz="1400" dirty="0">
                <a:solidFill>
                  <a:schemeClr val="bg1"/>
                </a:solidFill>
              </a:rPr>
              <a:t>         </a:t>
            </a:r>
            <a:r>
              <a:rPr lang="es-ES" sz="1400" dirty="0" err="1">
                <a:solidFill>
                  <a:schemeClr val="bg1"/>
                </a:solidFill>
              </a:rPr>
              <a:t>precision_mes</a:t>
            </a: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tipo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DISOLUCION                           1.0                          1.0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JUNTA_ACCIONISTAS             1.0                         1.0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REMATE                                    1.0                         1.0</a:t>
            </a:r>
          </a:p>
        </p:txBody>
      </p:sp>
    </p:spTree>
    <p:extLst>
      <p:ext uri="{BB962C8B-B14F-4D97-AF65-F5344CB8AC3E}">
        <p14:creationId xmlns:p14="http://schemas.microsoft.com/office/powerpoint/2010/main" val="3113669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85FE50D5-4273-49A4-A4F8-A2C7C6584D5D}"/>
              </a:ext>
            </a:extLst>
          </p:cNvPr>
          <p:cNvSpPr/>
          <p:nvPr/>
        </p:nvSpPr>
        <p:spPr>
          <a:xfrm>
            <a:off x="690917" y="218365"/>
            <a:ext cx="7762165" cy="4851778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6. VENTAJAS DEL SISTEMA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100% local (sin </a:t>
            </a:r>
            <a:r>
              <a:rPr lang="es-ES" sz="1400" dirty="0" err="1">
                <a:solidFill>
                  <a:schemeClr val="bg1"/>
                </a:solidFill>
              </a:rPr>
              <a:t>APIs</a:t>
            </a:r>
            <a:r>
              <a:rPr lang="es-ES" sz="1400" dirty="0">
                <a:solidFill>
                  <a:schemeClr val="bg1"/>
                </a:solidFill>
              </a:rPr>
              <a:t> de pago)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Sin costos operativos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Privacidad garantizada (datos no salen)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Filtros </a:t>
            </a:r>
            <a:r>
              <a:rPr lang="es-ES" sz="1400" dirty="0" err="1">
                <a:solidFill>
                  <a:schemeClr val="bg1"/>
                </a:solidFill>
              </a:rPr>
              <a:t>metadata</a:t>
            </a:r>
            <a:r>
              <a:rPr lang="es-ES" sz="1400" dirty="0">
                <a:solidFill>
                  <a:schemeClr val="bg1"/>
                </a:solidFill>
              </a:rPr>
              <a:t> precisos (100%)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Robusto con datos reales (con ruido)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Escalable (millones de documentos)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Verificable (citas a documentos fuente)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7. LIMITACIONES IDENTIFICADAS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Tiempo de respuesta: 30-65s (principalmente LLM)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Calidad depende del texto original en </a:t>
            </a:r>
            <a:r>
              <a:rPr lang="es-ES" sz="1400" dirty="0" err="1">
                <a:solidFill>
                  <a:schemeClr val="bg1"/>
                </a:solidFill>
              </a:rPr>
              <a:t>PDFs</a:t>
            </a: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Corpus limitado a 8 meses (expandible)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8. PRÓXIMOS PASOS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Fine-</a:t>
            </a:r>
            <a:r>
              <a:rPr lang="es-ES" sz="1400" dirty="0" err="1">
                <a:solidFill>
                  <a:schemeClr val="bg1"/>
                </a:solidFill>
              </a:rPr>
              <a:t>tuning</a:t>
            </a:r>
            <a:r>
              <a:rPr lang="es-ES" sz="1400" dirty="0">
                <a:solidFill>
                  <a:schemeClr val="bg1"/>
                </a:solidFill>
              </a:rPr>
              <a:t> de Llama3 para formateo de respuestas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Optimización de velocidad (</a:t>
            </a:r>
            <a:r>
              <a:rPr lang="es-ES" sz="1400" dirty="0" err="1">
                <a:solidFill>
                  <a:schemeClr val="bg1"/>
                </a:solidFill>
              </a:rPr>
              <a:t>caching</a:t>
            </a:r>
            <a:r>
              <a:rPr lang="es-ES" sz="1400" dirty="0">
                <a:solidFill>
                  <a:schemeClr val="bg1"/>
                </a:solidFill>
              </a:rPr>
              <a:t>, </a:t>
            </a:r>
            <a:r>
              <a:rPr lang="es-ES" sz="1400" dirty="0" err="1">
                <a:solidFill>
                  <a:schemeClr val="bg1"/>
                </a:solidFill>
              </a:rPr>
              <a:t>streaming</a:t>
            </a:r>
            <a:r>
              <a:rPr lang="es-ES" sz="1400" dirty="0">
                <a:solidFill>
                  <a:schemeClr val="bg1"/>
                </a:solidFill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Expansión del corpus (años anteriores)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400" dirty="0">
                <a:solidFill>
                  <a:schemeClr val="bg1"/>
                </a:solidFill>
              </a:rPr>
              <a:t> Interfaz web (</a:t>
            </a:r>
            <a:r>
              <a:rPr lang="es-ES" sz="1400" dirty="0" err="1">
                <a:solidFill>
                  <a:schemeClr val="bg1"/>
                </a:solidFill>
              </a:rPr>
              <a:t>Streamlit</a:t>
            </a:r>
            <a:r>
              <a:rPr lang="es-ES" sz="1400" dirty="0">
                <a:solidFill>
                  <a:schemeClr val="bg1"/>
                </a:solidFill>
              </a:rPr>
              <a:t>/</a:t>
            </a:r>
            <a:r>
              <a:rPr lang="es-ES" sz="1400" dirty="0" err="1">
                <a:solidFill>
                  <a:schemeClr val="bg1"/>
                </a:solidFill>
              </a:rPr>
              <a:t>Gradio</a:t>
            </a:r>
            <a:r>
              <a:rPr lang="es-ES" sz="14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18754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>
            <a:extLst>
              <a:ext uri="{FF2B5EF4-FFF2-40B4-BE49-F238E27FC236}">
                <a16:creationId xmlns:a16="http://schemas.microsoft.com/office/drawing/2014/main" id="{CE497F79-5B45-4CA1-A0BF-3CBD3F9D5A3F}"/>
              </a:ext>
            </a:extLst>
          </p:cNvPr>
          <p:cNvSpPr/>
          <p:nvPr/>
        </p:nvSpPr>
        <p:spPr>
          <a:xfrm>
            <a:off x="371899" y="276091"/>
            <a:ext cx="7762165" cy="2597039"/>
          </a:xfrm>
          <a:prstGeom prst="roundRect">
            <a:avLst>
              <a:gd name="adj" fmla="val 39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chemeClr val="bg1"/>
                </a:solidFill>
              </a:rPr>
              <a:t>FINE-TUNING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LLaMA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(Meta)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el material (especialmente en Fine_Tuning2.ipynb) se trabaja con modelos de la familia </a:t>
            </a: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LLaMA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Concretamente:LLaMA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/ LLaMA-2 (vía </a:t>
            </a: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Hugging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Face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)Usados para fine-</a:t>
            </a: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tuning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 experimentación local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Enfoque:modelos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open-</a:t>
            </a: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sourcecontrol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total del </a:t>
            </a: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entrenamientosin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dependencia directa de </a:t>
            </a:r>
            <a:r>
              <a:rPr kumimoji="0" lang="es-ES" sz="16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APIs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comerciales</a:t>
            </a:r>
          </a:p>
        </p:txBody>
      </p:sp>
    </p:spTree>
    <p:extLst>
      <p:ext uri="{BB962C8B-B14F-4D97-AF65-F5344CB8AC3E}">
        <p14:creationId xmlns:p14="http://schemas.microsoft.com/office/powerpoint/2010/main" val="1436049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1420</Words>
  <Application>Microsoft Office PowerPoint</Application>
  <PresentationFormat>Presentación en pantalla (16:9)</PresentationFormat>
  <Paragraphs>277</Paragraphs>
  <Slides>20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del Diario El Peruano</dc:title>
  <dc:subject>Extracción de Entidades y Análisis Temporal</dc:subject>
  <dc:creator>Proyecto NLP</dc:creator>
  <cp:lastModifiedBy>Carlos</cp:lastModifiedBy>
  <cp:revision>16</cp:revision>
  <dcterms:created xsi:type="dcterms:W3CDTF">2026-01-04T23:20:04Z</dcterms:created>
  <dcterms:modified xsi:type="dcterms:W3CDTF">2026-01-14T04:00:19Z</dcterms:modified>
</cp:coreProperties>
</file>